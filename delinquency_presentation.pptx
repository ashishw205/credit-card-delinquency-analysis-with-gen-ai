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4" r:id="rId5"/>
    <p:sldId id="265" r:id="rId6"/>
    <p:sldId id="259" r:id="rId7"/>
    <p:sldId id="262" r:id="rId8"/>
    <p:sldId id="261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7362CC-D08C-4041-8843-949971290F03}" v="134" dt="2026-03-31T19:00:00.8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33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Customer</a:t>
            </a:r>
            <a:r>
              <a:rPr lang="en-IN" baseline="0" dirty="0"/>
              <a:t> distribution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Delinquent</c:v>
                </c:pt>
                <c:pt idx="1">
                  <c:v>Safe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27-47D5-A1F0-435E2F54B536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937FE-2437-4C35-AD6D-B3854318D563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A4BC4701-38F7-4204-BCA6-E0E8083947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4275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937FE-2437-4C35-AD6D-B3854318D563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C4701-38F7-4204-BCA6-E0E8083947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956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937FE-2437-4C35-AD6D-B3854318D563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A4BC4701-38F7-4204-BCA6-E0E8083947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49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937FE-2437-4C35-AD6D-B3854318D563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C4701-38F7-4204-BCA6-E0E8083947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717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937FE-2437-4C35-AD6D-B3854318D563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C4701-38F7-4204-BCA6-E0E8083947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6359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937FE-2437-4C35-AD6D-B3854318D563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C4701-38F7-4204-BCA6-E0E8083947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052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937FE-2437-4C35-AD6D-B3854318D563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C4701-38F7-4204-BCA6-E0E8083947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516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937FE-2437-4C35-AD6D-B3854318D563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C4701-38F7-4204-BCA6-E0E8083947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4667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937FE-2437-4C35-AD6D-B3854318D563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C4701-38F7-4204-BCA6-E0E8083947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083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937FE-2437-4C35-AD6D-B3854318D563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A4BC4701-38F7-4204-BCA6-E0E8083947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52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937FE-2437-4C35-AD6D-B3854318D563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A4BC4701-38F7-4204-BCA6-E0E8083947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2593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937FE-2437-4C35-AD6D-B3854318D563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A4BC4701-38F7-4204-BCA6-E0E80839476A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618939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937FE-2437-4C35-AD6D-B3854318D563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A4BC4701-38F7-4204-BCA6-E0E8083947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6956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937FE-2437-4C35-AD6D-B3854318D563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C4701-38F7-4204-BCA6-E0E8083947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385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937FE-2437-4C35-AD6D-B3854318D563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C4701-38F7-4204-BCA6-E0E8083947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4158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937FE-2437-4C35-AD6D-B3854318D563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C4701-38F7-4204-BCA6-E0E8083947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8452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8BF937FE-2437-4C35-AD6D-B3854318D563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A4BC4701-38F7-4204-BCA6-E0E8083947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854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937FE-2437-4C35-AD6D-B3854318D563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C4701-38F7-4204-BCA6-E0E8083947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40630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F18C9-B676-558E-93F4-1801C9D44F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AI-Powered Collections Strategy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403486-F154-8FCB-A990-903FE8C594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AI-Driven Approach </a:t>
            </a:r>
          </a:p>
          <a:p>
            <a:r>
              <a:rPr lang="en-US" dirty="0"/>
              <a:t>to Managing Debt at </a:t>
            </a:r>
            <a:r>
              <a:rPr lang="en-US" dirty="0" err="1"/>
              <a:t>Geldium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863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9008A-96AA-D9E1-DFD3-2FBD09CF3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How the System Works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DA7BE0-0ECE-68A1-92B4-E0F4A40A5BB7}"/>
              </a:ext>
            </a:extLst>
          </p:cNvPr>
          <p:cNvSpPr txBox="1"/>
          <p:nvPr/>
        </p:nvSpPr>
        <p:spPr>
          <a:xfrm>
            <a:off x="993647" y="3429000"/>
            <a:ext cx="103601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GB" b="1" dirty="0"/>
              <a:t>Decision Logic</a:t>
            </a:r>
            <a:r>
              <a:rPr lang="en-GB" dirty="0"/>
              <a:t>: customer with previous “missed payment less than equal to 3,Credit utilization less  than35%, person who didn’t missed 4 payment in past 6 month, who has dept to income ration below 0.5” are </a:t>
            </a:r>
            <a:r>
              <a:rPr lang="en-IN" dirty="0"/>
              <a:t>comparatively </a:t>
            </a:r>
            <a:r>
              <a:rPr lang="en-GB" dirty="0"/>
              <a:t>safe to lend money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DF6486-C361-738A-29B7-57398AB25B59}"/>
              </a:ext>
            </a:extLst>
          </p:cNvPr>
          <p:cNvSpPr txBox="1"/>
          <p:nvPr/>
        </p:nvSpPr>
        <p:spPr>
          <a:xfrm>
            <a:off x="993647" y="2560320"/>
            <a:ext cx="10658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GB" b="1" dirty="0"/>
              <a:t>Inputs: </a:t>
            </a:r>
            <a:r>
              <a:rPr lang="en-GB" dirty="0"/>
              <a:t>we have basic information of customer (ID, age, Employment status</a:t>
            </a:r>
            <a:r>
              <a:rPr lang="en-IN" dirty="0"/>
              <a:t>),and  Payment history, credit   utilization Missed payment, Credit score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010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BF39A0-A44A-D845-0ED1-AD1C8D0B3E8B}"/>
              </a:ext>
            </a:extLst>
          </p:cNvPr>
          <p:cNvSpPr txBox="1"/>
          <p:nvPr/>
        </p:nvSpPr>
        <p:spPr>
          <a:xfrm>
            <a:off x="1243584" y="1243584"/>
            <a:ext cx="96652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Finding and filling empty values By Average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Generating EDA Report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Collecting outcome data(paid, defaulted)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dirty="0"/>
              <a:t>-Above action are performed fully automated with AI</a:t>
            </a:r>
          </a:p>
        </p:txBody>
      </p:sp>
      <p:sp>
        <p:nvSpPr>
          <p:cNvPr id="4" name="Google Shape;81;p16">
            <a:extLst>
              <a:ext uri="{FF2B5EF4-FFF2-40B4-BE49-F238E27FC236}">
                <a16:creationId xmlns:a16="http://schemas.microsoft.com/office/drawing/2014/main" id="{5556EF05-7360-58FC-D036-2F198095DDD7}"/>
              </a:ext>
            </a:extLst>
          </p:cNvPr>
          <p:cNvSpPr txBox="1">
            <a:spLocks/>
          </p:cNvSpPr>
          <p:nvPr/>
        </p:nvSpPr>
        <p:spPr>
          <a:xfrm>
            <a:off x="451908" y="438136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IN"/>
              <a:t>Role of Agentic AI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5772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EDE2CB9A-A661-1EBA-A341-DC51AD70AE3B}"/>
              </a:ext>
            </a:extLst>
          </p:cNvPr>
          <p:cNvSpPr txBox="1">
            <a:spLocks/>
          </p:cNvSpPr>
          <p:nvPr/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IN" b="1" dirty="0"/>
              <a:t>Responsible AI Guardrails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878C93-C7F4-14FE-67F4-6A418A8B977F}"/>
              </a:ext>
            </a:extLst>
          </p:cNvPr>
          <p:cNvSpPr txBox="1"/>
          <p:nvPr/>
        </p:nvSpPr>
        <p:spPr>
          <a:xfrm>
            <a:off x="387900" y="1674674"/>
            <a:ext cx="96652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Checking updating model/reports(Action taken by AI ) Approving before taking to the next stage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/>
              <a:t>Fairness checks to prevent biased outcomes</a:t>
            </a: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Validating model for bias before deployment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Regulatory compliance with stands like ECOA</a:t>
            </a:r>
          </a:p>
        </p:txBody>
      </p:sp>
    </p:spTree>
    <p:extLst>
      <p:ext uri="{BB962C8B-B14F-4D97-AF65-F5344CB8AC3E}">
        <p14:creationId xmlns:p14="http://schemas.microsoft.com/office/powerpoint/2010/main" val="1015869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4;p18">
            <a:extLst>
              <a:ext uri="{FF2B5EF4-FFF2-40B4-BE49-F238E27FC236}">
                <a16:creationId xmlns:a16="http://schemas.microsoft.com/office/drawing/2014/main" id="{369B71F5-FE7D-808D-010E-E36E49A5785E}"/>
              </a:ext>
            </a:extLst>
          </p:cNvPr>
          <p:cNvSpPr txBox="1">
            <a:spLocks/>
          </p:cNvSpPr>
          <p:nvPr/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IN"/>
              <a:t>Expected Business Impact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8E58D725-C69B-6EAB-369D-6867D19737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5743237"/>
              </p:ext>
            </p:extLst>
          </p:nvPr>
        </p:nvGraphicFramePr>
        <p:xfrm>
          <a:off x="809626" y="1348317"/>
          <a:ext cx="4743450" cy="31855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A53E5367-0586-7DC4-8F12-E2EE4B45E686}"/>
              </a:ext>
            </a:extLst>
          </p:cNvPr>
          <p:cNvGrpSpPr/>
          <p:nvPr/>
        </p:nvGrpSpPr>
        <p:grpSpPr>
          <a:xfrm>
            <a:off x="6305550" y="3869061"/>
            <a:ext cx="2667000" cy="1276350"/>
            <a:chOff x="6305550" y="4429125"/>
            <a:chExt cx="4191000" cy="197085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A7C299B-8774-3CB7-5F3D-CFFAEDD06918}"/>
                </a:ext>
              </a:extLst>
            </p:cNvPr>
            <p:cNvSpPr/>
            <p:nvPr/>
          </p:nvSpPr>
          <p:spPr>
            <a:xfrm>
              <a:off x="6305550" y="4429125"/>
              <a:ext cx="4191000" cy="197085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6AB71A2-C2F5-65B6-4E65-10CDF55BADD6}"/>
                </a:ext>
              </a:extLst>
            </p:cNvPr>
            <p:cNvSpPr/>
            <p:nvPr/>
          </p:nvSpPr>
          <p:spPr>
            <a:xfrm>
              <a:off x="6305550" y="4429125"/>
              <a:ext cx="161925" cy="1970850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D73449-FF44-9D2B-F8FB-9CE95ED992E8}"/>
              </a:ext>
            </a:extLst>
          </p:cNvPr>
          <p:cNvGrpSpPr/>
          <p:nvPr/>
        </p:nvGrpSpPr>
        <p:grpSpPr>
          <a:xfrm>
            <a:off x="6305550" y="2152650"/>
            <a:ext cx="2667000" cy="1276350"/>
            <a:chOff x="6305550" y="2152651"/>
            <a:chExt cx="2667000" cy="127635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BF3A003-7B05-64CD-57CE-FC8027625213}"/>
                </a:ext>
              </a:extLst>
            </p:cNvPr>
            <p:cNvGrpSpPr/>
            <p:nvPr/>
          </p:nvGrpSpPr>
          <p:grpSpPr>
            <a:xfrm>
              <a:off x="6305550" y="2152651"/>
              <a:ext cx="2667000" cy="1276350"/>
              <a:chOff x="6305550" y="2152650"/>
              <a:chExt cx="4191000" cy="2028825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3E2ECA0-17BC-BB0F-4F5A-2B2D399BD8B8}"/>
                  </a:ext>
                </a:extLst>
              </p:cNvPr>
              <p:cNvSpPr/>
              <p:nvPr/>
            </p:nvSpPr>
            <p:spPr>
              <a:xfrm>
                <a:off x="6305550" y="2152650"/>
                <a:ext cx="4191000" cy="2028825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8801262-5552-86F5-4E38-7C1D601AB26B}"/>
                  </a:ext>
                </a:extLst>
              </p:cNvPr>
              <p:cNvSpPr/>
              <p:nvPr/>
            </p:nvSpPr>
            <p:spPr>
              <a:xfrm>
                <a:off x="6305550" y="2152650"/>
                <a:ext cx="161925" cy="202882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6D18A0C-76D3-7241-BAAC-4CAAE66F5ABF}"/>
                </a:ext>
              </a:extLst>
            </p:cNvPr>
            <p:cNvSpPr txBox="1"/>
            <p:nvPr/>
          </p:nvSpPr>
          <p:spPr>
            <a:xfrm>
              <a:off x="6477000" y="2152651"/>
              <a:ext cx="116205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000" dirty="0">
                  <a:solidFill>
                    <a:srgbClr val="FFC000"/>
                  </a:solidFill>
                </a:rPr>
                <a:t>423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DE642CE-D187-DFCD-D9C0-AEE9B22EEA44}"/>
              </a:ext>
            </a:extLst>
          </p:cNvPr>
          <p:cNvSpPr txBox="1"/>
          <p:nvPr/>
        </p:nvSpPr>
        <p:spPr>
          <a:xfrm>
            <a:off x="6477000" y="3826014"/>
            <a:ext cx="11620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rgbClr val="00B050"/>
                </a:solidFill>
              </a:rPr>
              <a:t>47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02D0E2-3D37-E8BF-1989-0347AFDB7C80}"/>
              </a:ext>
            </a:extLst>
          </p:cNvPr>
          <p:cNvSpPr txBox="1"/>
          <p:nvPr/>
        </p:nvSpPr>
        <p:spPr>
          <a:xfrm>
            <a:off x="6477000" y="2988415"/>
            <a:ext cx="1819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C000"/>
                </a:solidFill>
              </a:rPr>
              <a:t>HIGH RISK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D71BC6-A046-80EE-C2E6-7077DA125D15}"/>
              </a:ext>
            </a:extLst>
          </p:cNvPr>
          <p:cNvSpPr txBox="1"/>
          <p:nvPr/>
        </p:nvSpPr>
        <p:spPr>
          <a:xfrm>
            <a:off x="6477000" y="4654989"/>
            <a:ext cx="1420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B050"/>
                </a:solidFill>
              </a:rPr>
              <a:t>LOW RISK</a:t>
            </a:r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7A88360F-BCD9-C01B-2360-B8CC636B3A3D}"/>
              </a:ext>
            </a:extLst>
          </p:cNvPr>
          <p:cNvSpPr/>
          <p:nvPr/>
        </p:nvSpPr>
        <p:spPr>
          <a:xfrm>
            <a:off x="7384500" y="2591401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740AF96B-1B82-3BD0-83BD-74DE5E50429B}"/>
              </a:ext>
            </a:extLst>
          </p:cNvPr>
          <p:cNvSpPr/>
          <p:nvPr/>
        </p:nvSpPr>
        <p:spPr>
          <a:xfrm>
            <a:off x="7161067" y="4136749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FB52636-41EC-2568-AFC6-497005E6774A}"/>
              </a:ext>
            </a:extLst>
          </p:cNvPr>
          <p:cNvSpPr txBox="1"/>
          <p:nvPr/>
        </p:nvSpPr>
        <p:spPr>
          <a:xfrm>
            <a:off x="457200" y="4654989"/>
            <a:ext cx="5638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Tighten lending criteria for customers with </a:t>
            </a:r>
          </a:p>
          <a:p>
            <a:r>
              <a:rPr lang="en-US" dirty="0"/>
              <a:t>Loan-Income Ratio &gt; 0.5,</a:t>
            </a:r>
          </a:p>
          <a:p>
            <a:r>
              <a:rPr lang="en-US" dirty="0"/>
              <a:t>Missed Payments &gt; 3,</a:t>
            </a:r>
          </a:p>
          <a:p>
            <a:r>
              <a:rPr lang="en-GB" dirty="0"/>
              <a:t>Credit utilization less  than35%, </a:t>
            </a:r>
          </a:p>
          <a:p>
            <a:r>
              <a:rPr lang="en-GB" dirty="0"/>
              <a:t>person who didn’t missed 4 payment in past 6 month.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6281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8900685B-46B9-C06A-50A8-15D7FA64BE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689116"/>
              </p:ext>
            </p:extLst>
          </p:nvPr>
        </p:nvGraphicFramePr>
        <p:xfrm>
          <a:off x="546735" y="855345"/>
          <a:ext cx="4206240" cy="2304288"/>
        </p:xfrm>
        <a:graphic>
          <a:graphicData uri="http://schemas.openxmlformats.org/drawingml/2006/table">
            <a:tbl>
              <a:tblPr/>
              <a:tblGrid>
                <a:gridCol w="1672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61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61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61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Delinquent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8D8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5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8D8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5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8D8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94.0%  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5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8D8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Self-employed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5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8D8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5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8D8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93.4%  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5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8D8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5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8D8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5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8D8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92.1%  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5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8D8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5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8D8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5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8D8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89.2%  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5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8D8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Unemployed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5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8D8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5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8D8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82.8%  🟢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5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B4D061C-E28D-D1A8-931B-5C8A23B356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9746111"/>
              </p:ext>
            </p:extLst>
          </p:nvPr>
        </p:nvGraphicFramePr>
        <p:xfrm>
          <a:off x="6362700" y="855345"/>
          <a:ext cx="3931920" cy="230428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1374209688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2686547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61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61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Delinquent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12154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8D8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York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5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8D8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93.2%  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5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44843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8D8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Angeles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5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8D8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91.0%  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5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003801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8D8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Houston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5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8D8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90.9%  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5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333694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8D8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Chicago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5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8D8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89.0%  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5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68667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8D8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Phoenix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5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8D8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86.2%  🟢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7B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5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035659"/>
                  </a:ext>
                </a:extLst>
              </a:tr>
            </a:tbl>
          </a:graphicData>
        </a:graphic>
      </p:graphicFrame>
      <p:grpSp>
        <p:nvGrpSpPr>
          <p:cNvPr id="30" name="Group 29">
            <a:extLst>
              <a:ext uri="{FF2B5EF4-FFF2-40B4-BE49-F238E27FC236}">
                <a16:creationId xmlns:a16="http://schemas.microsoft.com/office/drawing/2014/main" id="{48937034-C0B4-5BF5-0CD8-302041EC5377}"/>
              </a:ext>
            </a:extLst>
          </p:cNvPr>
          <p:cNvGrpSpPr/>
          <p:nvPr/>
        </p:nvGrpSpPr>
        <p:grpSpPr>
          <a:xfrm>
            <a:off x="1765935" y="3974592"/>
            <a:ext cx="2697480" cy="658368"/>
            <a:chOff x="1765935" y="3974592"/>
            <a:chExt cx="2697480" cy="658368"/>
          </a:xfrm>
        </p:grpSpPr>
        <p:sp>
          <p:nvSpPr>
            <p:cNvPr id="11" name="Shape 2">
              <a:extLst>
                <a:ext uri="{FF2B5EF4-FFF2-40B4-BE49-F238E27FC236}">
                  <a16:creationId xmlns:a16="http://schemas.microsoft.com/office/drawing/2014/main" id="{F9CAE5A8-E31A-7D8D-B8AB-2E1A98F613A7}"/>
                </a:ext>
              </a:extLst>
            </p:cNvPr>
            <p:cNvSpPr/>
            <p:nvPr/>
          </p:nvSpPr>
          <p:spPr>
            <a:xfrm>
              <a:off x="1765935" y="3974592"/>
              <a:ext cx="2697480" cy="658368"/>
            </a:xfrm>
            <a:prstGeom prst="rect">
              <a:avLst/>
            </a:prstGeom>
            <a:solidFill>
              <a:srgbClr val="0A5577"/>
            </a:solidFill>
            <a:ln w="12700">
              <a:solidFill>
                <a:srgbClr val="E84040"/>
              </a:solidFill>
              <a:prstDash val="solid"/>
            </a:ln>
          </p:spPr>
        </p:sp>
        <p:sp>
          <p:nvSpPr>
            <p:cNvPr id="12" name="Text 3">
              <a:extLst>
                <a:ext uri="{FF2B5EF4-FFF2-40B4-BE49-F238E27FC236}">
                  <a16:creationId xmlns:a16="http://schemas.microsoft.com/office/drawing/2014/main" id="{D1F885FD-12F9-BCE6-482C-978A46E5B34F}"/>
                </a:ext>
              </a:extLst>
            </p:cNvPr>
            <p:cNvSpPr/>
            <p:nvPr/>
          </p:nvSpPr>
          <p:spPr>
            <a:xfrm>
              <a:off x="1875663" y="4020312"/>
              <a:ext cx="24688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Student Card</a:t>
              </a:r>
              <a:endParaRPr lang="en-US" sz="1150" dirty="0"/>
            </a:p>
          </p:txBody>
        </p:sp>
        <p:sp>
          <p:nvSpPr>
            <p:cNvPr id="13" name="Text 4">
              <a:extLst>
                <a:ext uri="{FF2B5EF4-FFF2-40B4-BE49-F238E27FC236}">
                  <a16:creationId xmlns:a16="http://schemas.microsoft.com/office/drawing/2014/main" id="{A8DD9CB2-7D73-AB32-3768-2D17AA8C6805}"/>
                </a:ext>
              </a:extLst>
            </p:cNvPr>
            <p:cNvSpPr/>
            <p:nvPr/>
          </p:nvSpPr>
          <p:spPr>
            <a:xfrm>
              <a:off x="1875663" y="4294632"/>
              <a:ext cx="13716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E840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93.3% delinquent</a:t>
              </a:r>
              <a:endParaRPr lang="en-US" sz="11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2AD229C-69A4-118F-8B89-78A9E6F3FA2B}"/>
              </a:ext>
            </a:extLst>
          </p:cNvPr>
          <p:cNvGrpSpPr/>
          <p:nvPr/>
        </p:nvGrpSpPr>
        <p:grpSpPr>
          <a:xfrm>
            <a:off x="4600575" y="3974592"/>
            <a:ext cx="2697480" cy="658368"/>
            <a:chOff x="4600575" y="3974592"/>
            <a:chExt cx="2697480" cy="658368"/>
          </a:xfrm>
        </p:grpSpPr>
        <p:sp>
          <p:nvSpPr>
            <p:cNvPr id="14" name="Shape 5">
              <a:extLst>
                <a:ext uri="{FF2B5EF4-FFF2-40B4-BE49-F238E27FC236}">
                  <a16:creationId xmlns:a16="http://schemas.microsoft.com/office/drawing/2014/main" id="{913AC71E-8628-354E-DA51-498E61908B9C}"/>
                </a:ext>
              </a:extLst>
            </p:cNvPr>
            <p:cNvSpPr/>
            <p:nvPr/>
          </p:nvSpPr>
          <p:spPr>
            <a:xfrm>
              <a:off x="4600575" y="3974592"/>
              <a:ext cx="2697480" cy="658368"/>
            </a:xfrm>
            <a:prstGeom prst="rect">
              <a:avLst/>
            </a:prstGeom>
            <a:solidFill>
              <a:srgbClr val="0A5577"/>
            </a:solidFill>
            <a:ln w="12700">
              <a:solidFill>
                <a:srgbClr val="FF8C00"/>
              </a:solidFill>
              <a:prstDash val="solid"/>
            </a:ln>
          </p:spPr>
        </p:sp>
        <p:sp>
          <p:nvSpPr>
            <p:cNvPr id="15" name="Text 6">
              <a:extLst>
                <a:ext uri="{FF2B5EF4-FFF2-40B4-BE49-F238E27FC236}">
                  <a16:creationId xmlns:a16="http://schemas.microsoft.com/office/drawing/2014/main" id="{C810B61C-5C90-FC15-CCED-C1B60D55D202}"/>
                </a:ext>
              </a:extLst>
            </p:cNvPr>
            <p:cNvSpPr/>
            <p:nvPr/>
          </p:nvSpPr>
          <p:spPr>
            <a:xfrm>
              <a:off x="4710303" y="4020312"/>
              <a:ext cx="24688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Gold Card</a:t>
              </a:r>
              <a:endParaRPr lang="en-US" sz="1150" dirty="0"/>
            </a:p>
          </p:txBody>
        </p:sp>
        <p:sp>
          <p:nvSpPr>
            <p:cNvPr id="16" name="Text 7">
              <a:extLst>
                <a:ext uri="{FF2B5EF4-FFF2-40B4-BE49-F238E27FC236}">
                  <a16:creationId xmlns:a16="http://schemas.microsoft.com/office/drawing/2014/main" id="{009E19DA-1A9C-D943-2C13-1B1DBEB42EA4}"/>
                </a:ext>
              </a:extLst>
            </p:cNvPr>
            <p:cNvSpPr/>
            <p:nvPr/>
          </p:nvSpPr>
          <p:spPr>
            <a:xfrm>
              <a:off x="4710303" y="4294632"/>
              <a:ext cx="13716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F8C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90.9% delinquent</a:t>
              </a:r>
              <a:endParaRPr lang="en-US" sz="11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566D577-C408-F282-C643-5DFD52EF2F92}"/>
              </a:ext>
            </a:extLst>
          </p:cNvPr>
          <p:cNvGrpSpPr/>
          <p:nvPr/>
        </p:nvGrpSpPr>
        <p:grpSpPr>
          <a:xfrm>
            <a:off x="7435215" y="3974592"/>
            <a:ext cx="2697480" cy="658368"/>
            <a:chOff x="7435215" y="3974592"/>
            <a:chExt cx="2697480" cy="658368"/>
          </a:xfrm>
        </p:grpSpPr>
        <p:sp>
          <p:nvSpPr>
            <p:cNvPr id="17" name="Shape 8">
              <a:extLst>
                <a:ext uri="{FF2B5EF4-FFF2-40B4-BE49-F238E27FC236}">
                  <a16:creationId xmlns:a16="http://schemas.microsoft.com/office/drawing/2014/main" id="{AE9AA400-DA58-81B1-0D6F-D8B1915B2ED8}"/>
                </a:ext>
              </a:extLst>
            </p:cNvPr>
            <p:cNvSpPr/>
            <p:nvPr/>
          </p:nvSpPr>
          <p:spPr>
            <a:xfrm>
              <a:off x="7435215" y="3974592"/>
              <a:ext cx="2697480" cy="658368"/>
            </a:xfrm>
            <a:prstGeom prst="rect">
              <a:avLst/>
            </a:prstGeom>
            <a:solidFill>
              <a:srgbClr val="0A5577"/>
            </a:solidFill>
            <a:ln w="12700">
              <a:solidFill>
                <a:srgbClr val="FF8C00"/>
              </a:solidFill>
              <a:prstDash val="solid"/>
            </a:ln>
          </p:spPr>
        </p:sp>
        <p:sp>
          <p:nvSpPr>
            <p:cNvPr id="18" name="Text 9">
              <a:extLst>
                <a:ext uri="{FF2B5EF4-FFF2-40B4-BE49-F238E27FC236}">
                  <a16:creationId xmlns:a16="http://schemas.microsoft.com/office/drawing/2014/main" id="{C98F5ADE-C643-86DF-DE0F-5598C50E2213}"/>
                </a:ext>
              </a:extLst>
            </p:cNvPr>
            <p:cNvSpPr/>
            <p:nvPr/>
          </p:nvSpPr>
          <p:spPr>
            <a:xfrm>
              <a:off x="7544943" y="4020312"/>
              <a:ext cx="24688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Platinum Card</a:t>
              </a:r>
              <a:endParaRPr lang="en-US" sz="1150" dirty="0"/>
            </a:p>
          </p:txBody>
        </p:sp>
        <p:sp>
          <p:nvSpPr>
            <p:cNvPr id="19" name="Text 10">
              <a:extLst>
                <a:ext uri="{FF2B5EF4-FFF2-40B4-BE49-F238E27FC236}">
                  <a16:creationId xmlns:a16="http://schemas.microsoft.com/office/drawing/2014/main" id="{3385281D-6064-1C9C-67DF-F9E33EEC930A}"/>
                </a:ext>
              </a:extLst>
            </p:cNvPr>
            <p:cNvSpPr/>
            <p:nvPr/>
          </p:nvSpPr>
          <p:spPr>
            <a:xfrm>
              <a:off x="7544943" y="4294632"/>
              <a:ext cx="13716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F8C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90.4% delinquent</a:t>
              </a:r>
              <a:endParaRPr lang="en-US" sz="11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72D65EB-C9C6-4178-61C6-2DAEC5B5DFC2}"/>
              </a:ext>
            </a:extLst>
          </p:cNvPr>
          <p:cNvGrpSpPr/>
          <p:nvPr/>
        </p:nvGrpSpPr>
        <p:grpSpPr>
          <a:xfrm>
            <a:off x="2823210" y="4780407"/>
            <a:ext cx="2697480" cy="658368"/>
            <a:chOff x="1765935" y="4751832"/>
            <a:chExt cx="2697480" cy="658368"/>
          </a:xfrm>
        </p:grpSpPr>
        <p:sp>
          <p:nvSpPr>
            <p:cNvPr id="20" name="Shape 11">
              <a:extLst>
                <a:ext uri="{FF2B5EF4-FFF2-40B4-BE49-F238E27FC236}">
                  <a16:creationId xmlns:a16="http://schemas.microsoft.com/office/drawing/2014/main" id="{173AA756-4D75-F7A7-91ED-A92C93CC9B2C}"/>
                </a:ext>
              </a:extLst>
            </p:cNvPr>
            <p:cNvSpPr/>
            <p:nvPr/>
          </p:nvSpPr>
          <p:spPr>
            <a:xfrm>
              <a:off x="1765935" y="4751832"/>
              <a:ext cx="2697480" cy="658368"/>
            </a:xfrm>
            <a:prstGeom prst="rect">
              <a:avLst/>
            </a:prstGeom>
            <a:solidFill>
              <a:srgbClr val="0A5577"/>
            </a:solidFill>
            <a:ln w="12700">
              <a:solidFill>
                <a:srgbClr val="FF8C00"/>
              </a:solidFill>
              <a:prstDash val="solid"/>
            </a:ln>
          </p:spPr>
        </p:sp>
        <p:sp>
          <p:nvSpPr>
            <p:cNvPr id="21" name="Text 12">
              <a:extLst>
                <a:ext uri="{FF2B5EF4-FFF2-40B4-BE49-F238E27FC236}">
                  <a16:creationId xmlns:a16="http://schemas.microsoft.com/office/drawing/2014/main" id="{04D2895C-3AAF-02D0-D893-E652ADB2E550}"/>
                </a:ext>
              </a:extLst>
            </p:cNvPr>
            <p:cNvSpPr/>
            <p:nvPr/>
          </p:nvSpPr>
          <p:spPr>
            <a:xfrm>
              <a:off x="1875663" y="4797552"/>
              <a:ext cx="24688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Standard Card</a:t>
              </a:r>
              <a:endParaRPr lang="en-US" sz="1150" dirty="0"/>
            </a:p>
          </p:txBody>
        </p:sp>
        <p:sp>
          <p:nvSpPr>
            <p:cNvPr id="22" name="Text 13">
              <a:extLst>
                <a:ext uri="{FF2B5EF4-FFF2-40B4-BE49-F238E27FC236}">
                  <a16:creationId xmlns:a16="http://schemas.microsoft.com/office/drawing/2014/main" id="{28DDD062-6888-14A9-E9A9-772728437A54}"/>
                </a:ext>
              </a:extLst>
            </p:cNvPr>
            <p:cNvSpPr/>
            <p:nvPr/>
          </p:nvSpPr>
          <p:spPr>
            <a:xfrm>
              <a:off x="1875663" y="5071872"/>
              <a:ext cx="13716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F8C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90.2% delinquent</a:t>
              </a:r>
              <a:endParaRPr lang="en-US" sz="11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B3977E8-AE59-F6ED-236F-2AA1206EF250}"/>
              </a:ext>
            </a:extLst>
          </p:cNvPr>
          <p:cNvGrpSpPr/>
          <p:nvPr/>
        </p:nvGrpSpPr>
        <p:grpSpPr>
          <a:xfrm>
            <a:off x="5830443" y="4789551"/>
            <a:ext cx="2697480" cy="658368"/>
            <a:chOff x="4573143" y="4751832"/>
            <a:chExt cx="2697480" cy="658368"/>
          </a:xfrm>
        </p:grpSpPr>
        <p:sp>
          <p:nvSpPr>
            <p:cNvPr id="23" name="Shape 14">
              <a:extLst>
                <a:ext uri="{FF2B5EF4-FFF2-40B4-BE49-F238E27FC236}">
                  <a16:creationId xmlns:a16="http://schemas.microsoft.com/office/drawing/2014/main" id="{B21B86FB-802C-1D1F-0F2E-85278B73693A}"/>
                </a:ext>
              </a:extLst>
            </p:cNvPr>
            <p:cNvSpPr/>
            <p:nvPr/>
          </p:nvSpPr>
          <p:spPr>
            <a:xfrm>
              <a:off x="4573143" y="4751832"/>
              <a:ext cx="2697480" cy="658368"/>
            </a:xfrm>
            <a:prstGeom prst="rect">
              <a:avLst/>
            </a:prstGeom>
            <a:solidFill>
              <a:srgbClr val="0A5577"/>
            </a:solidFill>
            <a:ln w="12700">
              <a:solidFill>
                <a:srgbClr val="9DC31A"/>
              </a:solidFill>
              <a:prstDash val="solid"/>
            </a:ln>
          </p:spPr>
        </p:sp>
        <p:sp>
          <p:nvSpPr>
            <p:cNvPr id="24" name="Text 15">
              <a:extLst>
                <a:ext uri="{FF2B5EF4-FFF2-40B4-BE49-F238E27FC236}">
                  <a16:creationId xmlns:a16="http://schemas.microsoft.com/office/drawing/2014/main" id="{D61F2C9E-8496-0FB0-D6B7-289FB562380E}"/>
                </a:ext>
              </a:extLst>
            </p:cNvPr>
            <p:cNvSpPr/>
            <p:nvPr/>
          </p:nvSpPr>
          <p:spPr>
            <a:xfrm>
              <a:off x="4710303" y="4797552"/>
              <a:ext cx="24688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Business Card</a:t>
              </a:r>
              <a:endParaRPr lang="en-US" sz="1150" dirty="0"/>
            </a:p>
          </p:txBody>
        </p:sp>
        <p:sp>
          <p:nvSpPr>
            <p:cNvPr id="25" name="Text 16">
              <a:extLst>
                <a:ext uri="{FF2B5EF4-FFF2-40B4-BE49-F238E27FC236}">
                  <a16:creationId xmlns:a16="http://schemas.microsoft.com/office/drawing/2014/main" id="{CD98E6D6-AC15-F8D6-D40F-AF6BFD2FE12B}"/>
                </a:ext>
              </a:extLst>
            </p:cNvPr>
            <p:cNvSpPr/>
            <p:nvPr/>
          </p:nvSpPr>
          <p:spPr>
            <a:xfrm>
              <a:off x="4710303" y="5071872"/>
              <a:ext cx="13716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9DC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85.0% delinquent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11825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90A02EC-4902-3A67-E950-E5E4A22338BA}"/>
              </a:ext>
            </a:extLst>
          </p:cNvPr>
          <p:cNvSpPr/>
          <p:nvPr/>
        </p:nvSpPr>
        <p:spPr>
          <a:xfrm>
            <a:off x="1216152" y="8229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 Risk Profile Comparison</a:t>
            </a:r>
            <a:endParaRPr lang="en-US" sz="3000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EB103CF-7C8E-6837-ED5F-D807D4C78375}"/>
              </a:ext>
            </a:extLst>
          </p:cNvPr>
          <p:cNvGrpSpPr/>
          <p:nvPr/>
        </p:nvGrpSpPr>
        <p:grpSpPr>
          <a:xfrm>
            <a:off x="1435608" y="1234440"/>
            <a:ext cx="9755505" cy="4032504"/>
            <a:chOff x="365760" y="932688"/>
            <a:chExt cx="9755505" cy="4005072"/>
          </a:xfrm>
        </p:grpSpPr>
        <p:sp>
          <p:nvSpPr>
            <p:cNvPr id="3" name="Shape 1">
              <a:extLst>
                <a:ext uri="{FF2B5EF4-FFF2-40B4-BE49-F238E27FC236}">
                  <a16:creationId xmlns:a16="http://schemas.microsoft.com/office/drawing/2014/main" id="{9C32FDD3-8E2C-D337-FFA9-FCF6A3389456}"/>
                </a:ext>
              </a:extLst>
            </p:cNvPr>
            <p:cNvSpPr/>
            <p:nvPr/>
          </p:nvSpPr>
          <p:spPr>
            <a:xfrm>
              <a:off x="457200" y="932688"/>
              <a:ext cx="411480" cy="50292"/>
            </a:xfrm>
            <a:prstGeom prst="rect">
              <a:avLst/>
            </a:prstGeom>
            <a:solidFill>
              <a:srgbClr val="9DC31A"/>
            </a:solidFill>
            <a:ln w="12700">
              <a:solidFill>
                <a:srgbClr val="9DC31A"/>
              </a:solidFill>
              <a:prstDash val="solid"/>
            </a:ln>
          </p:spPr>
        </p:sp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1D37747A-E292-5825-E2DB-24C366170CF0}"/>
                </a:ext>
              </a:extLst>
            </p:cNvPr>
            <p:cNvSpPr/>
            <p:nvPr/>
          </p:nvSpPr>
          <p:spPr>
            <a:xfrm>
              <a:off x="3041144" y="1115568"/>
              <a:ext cx="2719576" cy="384048"/>
            </a:xfrm>
            <a:prstGeom prst="rect">
              <a:avLst/>
            </a:prstGeom>
            <a:solidFill>
              <a:srgbClr val="E84040"/>
            </a:solidFill>
            <a:ln w="12700">
              <a:solidFill>
                <a:srgbClr val="E84040"/>
              </a:solidFill>
              <a:prstDash val="solid"/>
            </a:ln>
          </p:spPr>
        </p:sp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171BB333-3B74-08ED-1911-B47E2C3AEE32}"/>
                </a:ext>
              </a:extLst>
            </p:cNvPr>
            <p:cNvSpPr/>
            <p:nvPr/>
          </p:nvSpPr>
          <p:spPr>
            <a:xfrm>
              <a:off x="3212212" y="1109762"/>
              <a:ext cx="253060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 RISK   —  423 Customers  (90%)</a:t>
              </a:r>
              <a:endParaRPr lang="en-US" sz="1300" dirty="0"/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C319ACB8-62EC-42AF-00D8-9D0CCEE03C98}"/>
                </a:ext>
              </a:extLst>
            </p:cNvPr>
            <p:cNvSpPr/>
            <p:nvPr/>
          </p:nvSpPr>
          <p:spPr>
            <a:xfrm>
              <a:off x="5959602" y="1115568"/>
              <a:ext cx="2818638" cy="384048"/>
            </a:xfrm>
            <a:prstGeom prst="rect">
              <a:avLst/>
            </a:prstGeom>
            <a:solidFill>
              <a:srgbClr val="9DC31A"/>
            </a:solidFill>
            <a:ln w="12700">
              <a:solidFill>
                <a:srgbClr val="9DC31A"/>
              </a:solidFill>
              <a:prstDash val="solid"/>
            </a:ln>
          </p:spPr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6AA12141-6A38-5BE1-F8BB-215CC8C20726}"/>
                </a:ext>
              </a:extLst>
            </p:cNvPr>
            <p:cNvSpPr/>
            <p:nvPr/>
          </p:nvSpPr>
          <p:spPr>
            <a:xfrm>
              <a:off x="6143625" y="1115568"/>
              <a:ext cx="39776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B618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LOW RISK   —  47 Customers  (10%)</a:t>
              </a:r>
              <a:endParaRPr lang="en-US" sz="1300" dirty="0"/>
            </a:p>
          </p:txBody>
        </p:sp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FC0AA2E5-E395-6E5D-9D19-45C73D1CB8CB}"/>
                </a:ext>
              </a:extLst>
            </p:cNvPr>
            <p:cNvSpPr/>
            <p:nvPr/>
          </p:nvSpPr>
          <p:spPr>
            <a:xfrm>
              <a:off x="365760" y="1572768"/>
              <a:ext cx="8412480" cy="320040"/>
            </a:xfrm>
            <a:prstGeom prst="rect">
              <a:avLst/>
            </a:prstGeom>
            <a:solidFill>
              <a:srgbClr val="0A5577"/>
            </a:solidFill>
            <a:ln w="12700">
              <a:solidFill>
                <a:srgbClr val="0A5577"/>
              </a:solidFill>
              <a:prstDash val="solid"/>
            </a:ln>
          </p:spPr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884FB71F-2742-59B2-72CC-D001E8B684FD}"/>
                </a:ext>
              </a:extLst>
            </p:cNvPr>
            <p:cNvSpPr/>
            <p:nvPr/>
          </p:nvSpPr>
          <p:spPr>
            <a:xfrm>
              <a:off x="457200" y="1572768"/>
              <a:ext cx="29260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A8D8E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Average Income</a:t>
              </a:r>
              <a:endParaRPr lang="en-US" sz="1150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46A68B32-CA46-265F-0706-933EE543C1BE}"/>
                </a:ext>
              </a:extLst>
            </p:cNvPr>
            <p:cNvSpPr/>
            <p:nvPr/>
          </p:nvSpPr>
          <p:spPr>
            <a:xfrm>
              <a:off x="3429000" y="1572768"/>
              <a:ext cx="2286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FF8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$105,894</a:t>
              </a:r>
              <a:endParaRPr lang="en-US" sz="1150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0B9746C1-340C-9370-AB8A-58A7168ABD81}"/>
                </a:ext>
              </a:extLst>
            </p:cNvPr>
            <p:cNvSpPr/>
            <p:nvPr/>
          </p:nvSpPr>
          <p:spPr>
            <a:xfrm>
              <a:off x="5760720" y="1572768"/>
              <a:ext cx="2286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9DC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$132,251</a:t>
              </a:r>
              <a:endParaRPr lang="en-US" sz="1150" dirty="0"/>
            </a:p>
          </p:txBody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85C6EBE6-5675-2DAC-B261-66A4A3838DE0}"/>
                </a:ext>
              </a:extLst>
            </p:cNvPr>
            <p:cNvSpPr/>
            <p:nvPr/>
          </p:nvSpPr>
          <p:spPr>
            <a:xfrm>
              <a:off x="365760" y="1911096"/>
              <a:ext cx="8412480" cy="320040"/>
            </a:xfrm>
            <a:prstGeom prst="rect">
              <a:avLst/>
            </a:prstGeom>
            <a:solidFill>
              <a:srgbClr val="0A5577"/>
            </a:solidFill>
            <a:ln w="12700">
              <a:solidFill>
                <a:srgbClr val="0A5577"/>
              </a:solidFill>
              <a:prstDash val="solid"/>
            </a:ln>
          </p:spPr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B61F4322-65CF-FEF1-D42A-B954D0A5485B}"/>
                </a:ext>
              </a:extLst>
            </p:cNvPr>
            <p:cNvSpPr/>
            <p:nvPr/>
          </p:nvSpPr>
          <p:spPr>
            <a:xfrm>
              <a:off x="457200" y="1911096"/>
              <a:ext cx="29260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A8D8E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Average Credit Score</a:t>
              </a:r>
              <a:endParaRPr lang="en-US" sz="1150" dirty="0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E949C415-6B28-31FB-A04D-1AEB6781F2F8}"/>
                </a:ext>
              </a:extLst>
            </p:cNvPr>
            <p:cNvSpPr/>
            <p:nvPr/>
          </p:nvSpPr>
          <p:spPr>
            <a:xfrm>
              <a:off x="3429000" y="1911096"/>
              <a:ext cx="2286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FF8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574.6</a:t>
              </a:r>
              <a:endParaRPr lang="en-US" sz="1150" dirty="0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B0C99DF8-79BB-AFF0-796E-3D7679522CA0}"/>
                </a:ext>
              </a:extLst>
            </p:cNvPr>
            <p:cNvSpPr/>
            <p:nvPr/>
          </p:nvSpPr>
          <p:spPr>
            <a:xfrm>
              <a:off x="5760720" y="1911096"/>
              <a:ext cx="2286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9DC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625.6</a:t>
              </a:r>
              <a:endParaRPr lang="en-US" sz="1150" dirty="0"/>
            </a:p>
          </p:txBody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B8B4F264-601E-8F91-7331-F6EE8BE99C44}"/>
                </a:ext>
              </a:extLst>
            </p:cNvPr>
            <p:cNvSpPr/>
            <p:nvPr/>
          </p:nvSpPr>
          <p:spPr>
            <a:xfrm>
              <a:off x="365760" y="2249424"/>
              <a:ext cx="8412480" cy="320040"/>
            </a:xfrm>
            <a:prstGeom prst="rect">
              <a:avLst/>
            </a:prstGeom>
            <a:solidFill>
              <a:srgbClr val="0A5577"/>
            </a:solidFill>
            <a:ln w="12700">
              <a:solidFill>
                <a:srgbClr val="0A5577"/>
              </a:solidFill>
              <a:prstDash val="solid"/>
            </a:ln>
          </p:spPr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E46C8961-682B-D8E8-3E80-FD531F105D87}"/>
                </a:ext>
              </a:extLst>
            </p:cNvPr>
            <p:cNvSpPr/>
            <p:nvPr/>
          </p:nvSpPr>
          <p:spPr>
            <a:xfrm>
              <a:off x="457200" y="2249424"/>
              <a:ext cx="29260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A8D8E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Average Loan Balance</a:t>
              </a:r>
              <a:endParaRPr lang="en-US" sz="1150" dirty="0"/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98162237-9314-3D4C-4D3D-E42B5D3CFF46}"/>
                </a:ext>
              </a:extLst>
            </p:cNvPr>
            <p:cNvSpPr/>
            <p:nvPr/>
          </p:nvSpPr>
          <p:spPr>
            <a:xfrm>
              <a:off x="3429000" y="2249424"/>
              <a:ext cx="2286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FF8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$51,116</a:t>
              </a:r>
              <a:endParaRPr lang="en-US" sz="1150" dirty="0"/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A315C478-9EF7-ADC1-93A1-A2DB1CA3799B}"/>
                </a:ext>
              </a:extLst>
            </p:cNvPr>
            <p:cNvSpPr/>
            <p:nvPr/>
          </p:nvSpPr>
          <p:spPr>
            <a:xfrm>
              <a:off x="5760720" y="2249424"/>
              <a:ext cx="2286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9DC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$26,955</a:t>
              </a:r>
              <a:endParaRPr lang="en-US" sz="1150" dirty="0"/>
            </a:p>
          </p:txBody>
        </p:sp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82BF602F-11C4-7836-A528-174B26FCAB81}"/>
                </a:ext>
              </a:extLst>
            </p:cNvPr>
            <p:cNvSpPr/>
            <p:nvPr/>
          </p:nvSpPr>
          <p:spPr>
            <a:xfrm>
              <a:off x="365760" y="2587752"/>
              <a:ext cx="8412480" cy="320040"/>
            </a:xfrm>
            <a:prstGeom prst="rect">
              <a:avLst/>
            </a:prstGeom>
            <a:solidFill>
              <a:srgbClr val="0A5577"/>
            </a:solidFill>
            <a:ln w="12700">
              <a:solidFill>
                <a:srgbClr val="0A5577"/>
              </a:solidFill>
              <a:prstDash val="solid"/>
            </a:ln>
          </p:spPr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8DBBCBE2-417C-F23C-850B-6C67B9DDF14B}"/>
                </a:ext>
              </a:extLst>
            </p:cNvPr>
            <p:cNvSpPr/>
            <p:nvPr/>
          </p:nvSpPr>
          <p:spPr>
            <a:xfrm>
              <a:off x="457200" y="2587752"/>
              <a:ext cx="29260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A8D8E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Loan-Income Ratio</a:t>
              </a:r>
              <a:endParaRPr lang="en-US" sz="1150" dirty="0"/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653CA7E8-705F-DD08-243D-02D50D70030E}"/>
                </a:ext>
              </a:extLst>
            </p:cNvPr>
            <p:cNvSpPr/>
            <p:nvPr/>
          </p:nvSpPr>
          <p:spPr>
            <a:xfrm>
              <a:off x="3429000" y="2587752"/>
              <a:ext cx="2286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FF8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0.722</a:t>
              </a:r>
              <a:endParaRPr lang="en-US" sz="1150" dirty="0"/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B0C40857-0B0C-917A-6A04-71A20835D581}"/>
                </a:ext>
              </a:extLst>
            </p:cNvPr>
            <p:cNvSpPr/>
            <p:nvPr/>
          </p:nvSpPr>
          <p:spPr>
            <a:xfrm>
              <a:off x="5760720" y="2587752"/>
              <a:ext cx="2286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9DC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0.217</a:t>
              </a:r>
              <a:endParaRPr lang="en-US" sz="1150" dirty="0"/>
            </a:p>
          </p:txBody>
        </p:sp>
        <p:sp>
          <p:nvSpPr>
            <p:cNvPr id="24" name="Shape 22">
              <a:extLst>
                <a:ext uri="{FF2B5EF4-FFF2-40B4-BE49-F238E27FC236}">
                  <a16:creationId xmlns:a16="http://schemas.microsoft.com/office/drawing/2014/main" id="{F55F26F7-2581-3232-2080-72F89C3C3AF9}"/>
                </a:ext>
              </a:extLst>
            </p:cNvPr>
            <p:cNvSpPr/>
            <p:nvPr/>
          </p:nvSpPr>
          <p:spPr>
            <a:xfrm>
              <a:off x="365760" y="2926080"/>
              <a:ext cx="8412480" cy="320040"/>
            </a:xfrm>
            <a:prstGeom prst="rect">
              <a:avLst/>
            </a:prstGeom>
            <a:solidFill>
              <a:srgbClr val="0A5577"/>
            </a:solidFill>
            <a:ln w="12700">
              <a:solidFill>
                <a:srgbClr val="0A5577"/>
              </a:solidFill>
              <a:prstDash val="solid"/>
            </a:ln>
          </p:spPr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1A745432-5E7A-655B-842A-953C5A88DA02}"/>
                </a:ext>
              </a:extLst>
            </p:cNvPr>
            <p:cNvSpPr/>
            <p:nvPr/>
          </p:nvSpPr>
          <p:spPr>
            <a:xfrm>
              <a:off x="457200" y="2926080"/>
              <a:ext cx="29260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A8D8E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Missed Pmts (Historical Avg)</a:t>
              </a:r>
              <a:endParaRPr lang="en-US" sz="1150" dirty="0"/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A201A4F9-6BA6-E8EC-A5E9-F28081543298}"/>
                </a:ext>
              </a:extLst>
            </p:cNvPr>
            <p:cNvSpPr/>
            <p:nvPr/>
          </p:nvSpPr>
          <p:spPr>
            <a:xfrm>
              <a:off x="3429000" y="2926080"/>
              <a:ext cx="2286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FF8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3.12</a:t>
              </a:r>
              <a:endParaRPr lang="en-US" sz="1150" dirty="0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B6FC0BB6-37C1-B485-0095-841C6A6AFDED}"/>
                </a:ext>
              </a:extLst>
            </p:cNvPr>
            <p:cNvSpPr/>
            <p:nvPr/>
          </p:nvSpPr>
          <p:spPr>
            <a:xfrm>
              <a:off x="5760720" y="2926080"/>
              <a:ext cx="2286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9DC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1.57</a:t>
              </a:r>
              <a:endParaRPr lang="en-US" sz="1150" dirty="0"/>
            </a:p>
          </p:txBody>
        </p:sp>
        <p:sp>
          <p:nvSpPr>
            <p:cNvPr id="28" name="Shape 26">
              <a:extLst>
                <a:ext uri="{FF2B5EF4-FFF2-40B4-BE49-F238E27FC236}">
                  <a16:creationId xmlns:a16="http://schemas.microsoft.com/office/drawing/2014/main" id="{A8FD40E3-5693-CFD6-29F9-8D638A613F7A}"/>
                </a:ext>
              </a:extLst>
            </p:cNvPr>
            <p:cNvSpPr/>
            <p:nvPr/>
          </p:nvSpPr>
          <p:spPr>
            <a:xfrm>
              <a:off x="365760" y="3264408"/>
              <a:ext cx="8412480" cy="320040"/>
            </a:xfrm>
            <a:prstGeom prst="rect">
              <a:avLst/>
            </a:prstGeom>
            <a:solidFill>
              <a:srgbClr val="0A5577"/>
            </a:solidFill>
            <a:ln w="12700">
              <a:solidFill>
                <a:srgbClr val="0A5577"/>
              </a:solidFill>
              <a:prstDash val="solid"/>
            </a:ln>
          </p:spPr>
        </p:sp>
        <p:sp>
          <p:nvSpPr>
            <p:cNvPr id="29" name="Text 27">
              <a:extLst>
                <a:ext uri="{FF2B5EF4-FFF2-40B4-BE49-F238E27FC236}">
                  <a16:creationId xmlns:a16="http://schemas.microsoft.com/office/drawing/2014/main" id="{77EB62F5-5317-BABC-ED6A-2742509B061A}"/>
                </a:ext>
              </a:extLst>
            </p:cNvPr>
            <p:cNvSpPr/>
            <p:nvPr/>
          </p:nvSpPr>
          <p:spPr>
            <a:xfrm>
              <a:off x="457200" y="3264408"/>
              <a:ext cx="29260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A8D8E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Missed Pmts / Month</a:t>
              </a:r>
              <a:endParaRPr lang="en-US" sz="1150" dirty="0"/>
            </a:p>
          </p:txBody>
        </p:sp>
        <p:sp>
          <p:nvSpPr>
            <p:cNvPr id="30" name="Text 28">
              <a:extLst>
                <a:ext uri="{FF2B5EF4-FFF2-40B4-BE49-F238E27FC236}">
                  <a16:creationId xmlns:a16="http://schemas.microsoft.com/office/drawing/2014/main" id="{AE5A39CD-2501-533A-2919-75062EBD36F1}"/>
                </a:ext>
              </a:extLst>
            </p:cNvPr>
            <p:cNvSpPr/>
            <p:nvPr/>
          </p:nvSpPr>
          <p:spPr>
            <a:xfrm>
              <a:off x="3429000" y="3264408"/>
              <a:ext cx="2286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FF8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2.16 avg</a:t>
              </a:r>
              <a:endParaRPr lang="en-US" sz="1150" dirty="0"/>
            </a:p>
          </p:txBody>
        </p:sp>
        <p:sp>
          <p:nvSpPr>
            <p:cNvPr id="31" name="Text 29">
              <a:extLst>
                <a:ext uri="{FF2B5EF4-FFF2-40B4-BE49-F238E27FC236}">
                  <a16:creationId xmlns:a16="http://schemas.microsoft.com/office/drawing/2014/main" id="{1A0A6BA0-C225-9D5D-AC16-99E453806A58}"/>
                </a:ext>
              </a:extLst>
            </p:cNvPr>
            <p:cNvSpPr/>
            <p:nvPr/>
          </p:nvSpPr>
          <p:spPr>
            <a:xfrm>
              <a:off x="5760720" y="3264408"/>
              <a:ext cx="2286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9DC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0.72 avg</a:t>
              </a:r>
              <a:endParaRPr lang="en-US" sz="1150" dirty="0"/>
            </a:p>
          </p:txBody>
        </p:sp>
        <p:sp>
          <p:nvSpPr>
            <p:cNvPr id="32" name="Shape 30">
              <a:extLst>
                <a:ext uri="{FF2B5EF4-FFF2-40B4-BE49-F238E27FC236}">
                  <a16:creationId xmlns:a16="http://schemas.microsoft.com/office/drawing/2014/main" id="{86DED655-54AD-76FC-09C5-501B7FCE64B4}"/>
                </a:ext>
              </a:extLst>
            </p:cNvPr>
            <p:cNvSpPr/>
            <p:nvPr/>
          </p:nvSpPr>
          <p:spPr>
            <a:xfrm>
              <a:off x="365760" y="3602736"/>
              <a:ext cx="8412480" cy="320040"/>
            </a:xfrm>
            <a:prstGeom prst="rect">
              <a:avLst/>
            </a:prstGeom>
            <a:solidFill>
              <a:srgbClr val="0A5577"/>
            </a:solidFill>
            <a:ln w="12700">
              <a:solidFill>
                <a:srgbClr val="0A5577"/>
              </a:solidFill>
              <a:prstDash val="solid"/>
            </a:ln>
          </p:spPr>
        </p:sp>
        <p:sp>
          <p:nvSpPr>
            <p:cNvPr id="33" name="Text 31">
              <a:extLst>
                <a:ext uri="{FF2B5EF4-FFF2-40B4-BE49-F238E27FC236}">
                  <a16:creationId xmlns:a16="http://schemas.microsoft.com/office/drawing/2014/main" id="{B8D2FDF3-54E1-5A65-A6E5-3A8FD50EEA83}"/>
                </a:ext>
              </a:extLst>
            </p:cNvPr>
            <p:cNvSpPr/>
            <p:nvPr/>
          </p:nvSpPr>
          <p:spPr>
            <a:xfrm>
              <a:off x="457200" y="3602736"/>
              <a:ext cx="29260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A8D8E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On-time Pmts / Month</a:t>
              </a:r>
              <a:endParaRPr lang="en-US" sz="1150" dirty="0"/>
            </a:p>
          </p:txBody>
        </p:sp>
        <p:sp>
          <p:nvSpPr>
            <p:cNvPr id="34" name="Text 32">
              <a:extLst>
                <a:ext uri="{FF2B5EF4-FFF2-40B4-BE49-F238E27FC236}">
                  <a16:creationId xmlns:a16="http://schemas.microsoft.com/office/drawing/2014/main" id="{8B13ED3F-B394-17E0-8D1A-4B2A8C9E45ED}"/>
                </a:ext>
              </a:extLst>
            </p:cNvPr>
            <p:cNvSpPr/>
            <p:nvPr/>
          </p:nvSpPr>
          <p:spPr>
            <a:xfrm>
              <a:off x="3429000" y="3602736"/>
              <a:ext cx="2286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FF8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1.91 avg</a:t>
              </a:r>
              <a:endParaRPr lang="en-US" sz="1150" dirty="0"/>
            </a:p>
          </p:txBody>
        </p:sp>
        <p:sp>
          <p:nvSpPr>
            <p:cNvPr id="35" name="Text 33">
              <a:extLst>
                <a:ext uri="{FF2B5EF4-FFF2-40B4-BE49-F238E27FC236}">
                  <a16:creationId xmlns:a16="http://schemas.microsoft.com/office/drawing/2014/main" id="{6B47E00D-509D-DB00-FBE4-3A46AA4E1244}"/>
                </a:ext>
              </a:extLst>
            </p:cNvPr>
            <p:cNvSpPr/>
            <p:nvPr/>
          </p:nvSpPr>
          <p:spPr>
            <a:xfrm>
              <a:off x="5760720" y="3602736"/>
              <a:ext cx="2286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9DC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2.74 avg</a:t>
              </a:r>
              <a:endParaRPr lang="en-US" sz="1150" dirty="0"/>
            </a:p>
          </p:txBody>
        </p:sp>
        <p:sp>
          <p:nvSpPr>
            <p:cNvPr id="36" name="Shape 34">
              <a:extLst>
                <a:ext uri="{FF2B5EF4-FFF2-40B4-BE49-F238E27FC236}">
                  <a16:creationId xmlns:a16="http://schemas.microsoft.com/office/drawing/2014/main" id="{C7C7AC6B-5C4D-A58A-3B2E-D2D8D75A844D}"/>
                </a:ext>
              </a:extLst>
            </p:cNvPr>
            <p:cNvSpPr/>
            <p:nvPr/>
          </p:nvSpPr>
          <p:spPr>
            <a:xfrm>
              <a:off x="365760" y="3941064"/>
              <a:ext cx="8412480" cy="320040"/>
            </a:xfrm>
            <a:prstGeom prst="rect">
              <a:avLst/>
            </a:prstGeom>
            <a:solidFill>
              <a:srgbClr val="0A5577"/>
            </a:solidFill>
            <a:ln w="12700">
              <a:solidFill>
                <a:srgbClr val="0A5577"/>
              </a:solidFill>
              <a:prstDash val="solid"/>
            </a:ln>
          </p:spPr>
        </p:sp>
        <p:sp>
          <p:nvSpPr>
            <p:cNvPr id="37" name="Text 35">
              <a:extLst>
                <a:ext uri="{FF2B5EF4-FFF2-40B4-BE49-F238E27FC236}">
                  <a16:creationId xmlns:a16="http://schemas.microsoft.com/office/drawing/2014/main" id="{CDD2F062-E384-A257-9FA1-015D29759099}"/>
                </a:ext>
              </a:extLst>
            </p:cNvPr>
            <p:cNvSpPr/>
            <p:nvPr/>
          </p:nvSpPr>
          <p:spPr>
            <a:xfrm>
              <a:off x="457200" y="3941064"/>
              <a:ext cx="29260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A8D8E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Riskiest Employment</a:t>
              </a:r>
              <a:endParaRPr lang="en-US" sz="1150" dirty="0"/>
            </a:p>
          </p:txBody>
        </p:sp>
        <p:sp>
          <p:nvSpPr>
            <p:cNvPr id="38" name="Text 36">
              <a:extLst>
                <a:ext uri="{FF2B5EF4-FFF2-40B4-BE49-F238E27FC236}">
                  <a16:creationId xmlns:a16="http://schemas.microsoft.com/office/drawing/2014/main" id="{79BF073F-B3E6-80DD-F128-CAB86989EAE7}"/>
                </a:ext>
              </a:extLst>
            </p:cNvPr>
            <p:cNvSpPr/>
            <p:nvPr/>
          </p:nvSpPr>
          <p:spPr>
            <a:xfrm>
              <a:off x="3429000" y="3941064"/>
              <a:ext cx="2286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FF8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Retired (94%)</a:t>
              </a:r>
              <a:endParaRPr lang="en-US" sz="1150" dirty="0"/>
            </a:p>
          </p:txBody>
        </p:sp>
        <p:sp>
          <p:nvSpPr>
            <p:cNvPr id="39" name="Text 37">
              <a:extLst>
                <a:ext uri="{FF2B5EF4-FFF2-40B4-BE49-F238E27FC236}">
                  <a16:creationId xmlns:a16="http://schemas.microsoft.com/office/drawing/2014/main" id="{79992D0C-72A9-8490-378C-115E9A72B83B}"/>
                </a:ext>
              </a:extLst>
            </p:cNvPr>
            <p:cNvSpPr/>
            <p:nvPr/>
          </p:nvSpPr>
          <p:spPr>
            <a:xfrm>
              <a:off x="5760720" y="3941064"/>
              <a:ext cx="2286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9DC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Unemployed (17.2% safe)</a:t>
              </a:r>
              <a:endParaRPr lang="en-US" sz="1150" dirty="0"/>
            </a:p>
          </p:txBody>
        </p:sp>
        <p:sp>
          <p:nvSpPr>
            <p:cNvPr id="40" name="Shape 38">
              <a:extLst>
                <a:ext uri="{FF2B5EF4-FFF2-40B4-BE49-F238E27FC236}">
                  <a16:creationId xmlns:a16="http://schemas.microsoft.com/office/drawing/2014/main" id="{303802B1-BA43-DD28-6A60-3C044FF9DEED}"/>
                </a:ext>
              </a:extLst>
            </p:cNvPr>
            <p:cNvSpPr/>
            <p:nvPr/>
          </p:nvSpPr>
          <p:spPr>
            <a:xfrm>
              <a:off x="365760" y="4279392"/>
              <a:ext cx="8412480" cy="320040"/>
            </a:xfrm>
            <a:prstGeom prst="rect">
              <a:avLst/>
            </a:prstGeom>
            <a:solidFill>
              <a:srgbClr val="0A5577"/>
            </a:solidFill>
            <a:ln w="12700">
              <a:solidFill>
                <a:srgbClr val="0A5577"/>
              </a:solidFill>
              <a:prstDash val="solid"/>
            </a:ln>
          </p:spPr>
        </p:sp>
        <p:sp>
          <p:nvSpPr>
            <p:cNvPr id="41" name="Text 39">
              <a:extLst>
                <a:ext uri="{FF2B5EF4-FFF2-40B4-BE49-F238E27FC236}">
                  <a16:creationId xmlns:a16="http://schemas.microsoft.com/office/drawing/2014/main" id="{C635C277-34E6-D20E-D614-A0DE3B777BDF}"/>
                </a:ext>
              </a:extLst>
            </p:cNvPr>
            <p:cNvSpPr/>
            <p:nvPr/>
          </p:nvSpPr>
          <p:spPr>
            <a:xfrm>
              <a:off x="457200" y="4279392"/>
              <a:ext cx="29260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A8D8E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Riskiest Card Type</a:t>
              </a:r>
              <a:endParaRPr lang="en-US" sz="1150" dirty="0"/>
            </a:p>
          </p:txBody>
        </p:sp>
        <p:sp>
          <p:nvSpPr>
            <p:cNvPr id="42" name="Text 40">
              <a:extLst>
                <a:ext uri="{FF2B5EF4-FFF2-40B4-BE49-F238E27FC236}">
                  <a16:creationId xmlns:a16="http://schemas.microsoft.com/office/drawing/2014/main" id="{0964922E-A74A-866A-16C8-73599212D5E9}"/>
                </a:ext>
              </a:extLst>
            </p:cNvPr>
            <p:cNvSpPr/>
            <p:nvPr/>
          </p:nvSpPr>
          <p:spPr>
            <a:xfrm>
              <a:off x="3429000" y="4279392"/>
              <a:ext cx="2286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FF8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Student (93.3%)</a:t>
              </a:r>
              <a:endParaRPr lang="en-US" sz="1150" dirty="0"/>
            </a:p>
          </p:txBody>
        </p:sp>
        <p:sp>
          <p:nvSpPr>
            <p:cNvPr id="43" name="Text 41">
              <a:extLst>
                <a:ext uri="{FF2B5EF4-FFF2-40B4-BE49-F238E27FC236}">
                  <a16:creationId xmlns:a16="http://schemas.microsoft.com/office/drawing/2014/main" id="{D54AD2F2-B0FF-70B8-D073-6D18909210F4}"/>
                </a:ext>
              </a:extLst>
            </p:cNvPr>
            <p:cNvSpPr/>
            <p:nvPr/>
          </p:nvSpPr>
          <p:spPr>
            <a:xfrm>
              <a:off x="5760720" y="4279392"/>
              <a:ext cx="2286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9DC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Business (15% safe)</a:t>
              </a:r>
              <a:endParaRPr lang="en-US" sz="1150" dirty="0"/>
            </a:p>
          </p:txBody>
        </p:sp>
        <p:sp>
          <p:nvSpPr>
            <p:cNvPr id="44" name="Shape 42">
              <a:extLst>
                <a:ext uri="{FF2B5EF4-FFF2-40B4-BE49-F238E27FC236}">
                  <a16:creationId xmlns:a16="http://schemas.microsoft.com/office/drawing/2014/main" id="{FE236812-D819-2C5F-0653-0FBC360CC1DA}"/>
                </a:ext>
              </a:extLst>
            </p:cNvPr>
            <p:cNvSpPr/>
            <p:nvPr/>
          </p:nvSpPr>
          <p:spPr>
            <a:xfrm>
              <a:off x="365760" y="4617720"/>
              <a:ext cx="8412480" cy="320040"/>
            </a:xfrm>
            <a:prstGeom prst="rect">
              <a:avLst/>
            </a:prstGeom>
            <a:solidFill>
              <a:srgbClr val="0A5577"/>
            </a:solidFill>
            <a:ln w="12700">
              <a:solidFill>
                <a:srgbClr val="0A5577"/>
              </a:solidFill>
              <a:prstDash val="solid"/>
            </a:ln>
          </p:spPr>
        </p:sp>
        <p:sp>
          <p:nvSpPr>
            <p:cNvPr id="45" name="Text 43">
              <a:extLst>
                <a:ext uri="{FF2B5EF4-FFF2-40B4-BE49-F238E27FC236}">
                  <a16:creationId xmlns:a16="http://schemas.microsoft.com/office/drawing/2014/main" id="{CD3F5004-EFBF-2F9C-FA79-5BB2971D5978}"/>
                </a:ext>
              </a:extLst>
            </p:cNvPr>
            <p:cNvSpPr/>
            <p:nvPr/>
          </p:nvSpPr>
          <p:spPr>
            <a:xfrm>
              <a:off x="457200" y="4617720"/>
              <a:ext cx="29260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A8D8E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Riskiest Location</a:t>
              </a:r>
              <a:endParaRPr lang="en-US" sz="1150" dirty="0"/>
            </a:p>
          </p:txBody>
        </p:sp>
        <p:sp>
          <p:nvSpPr>
            <p:cNvPr id="46" name="Text 44">
              <a:extLst>
                <a:ext uri="{FF2B5EF4-FFF2-40B4-BE49-F238E27FC236}">
                  <a16:creationId xmlns:a16="http://schemas.microsoft.com/office/drawing/2014/main" id="{719DCC42-C9EB-2124-27B6-B8E483635BB8}"/>
                </a:ext>
              </a:extLst>
            </p:cNvPr>
            <p:cNvSpPr/>
            <p:nvPr/>
          </p:nvSpPr>
          <p:spPr>
            <a:xfrm>
              <a:off x="3429000" y="4617720"/>
              <a:ext cx="2286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FF8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New York (93.2%)</a:t>
              </a:r>
              <a:endParaRPr lang="en-US" sz="1150" dirty="0"/>
            </a:p>
          </p:txBody>
        </p:sp>
        <p:sp>
          <p:nvSpPr>
            <p:cNvPr id="47" name="Text 45">
              <a:extLst>
                <a:ext uri="{FF2B5EF4-FFF2-40B4-BE49-F238E27FC236}">
                  <a16:creationId xmlns:a16="http://schemas.microsoft.com/office/drawing/2014/main" id="{DF80F146-0848-D25B-23DA-03FA1DF75549}"/>
                </a:ext>
              </a:extLst>
            </p:cNvPr>
            <p:cNvSpPr/>
            <p:nvPr/>
          </p:nvSpPr>
          <p:spPr>
            <a:xfrm>
              <a:off x="5760720" y="4617720"/>
              <a:ext cx="2286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9DC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Phoenix (13.8% safe)</a:t>
              </a:r>
              <a:endParaRPr lang="en-US" sz="1150" dirty="0"/>
            </a:p>
          </p:txBody>
        </p:sp>
      </p:grpSp>
    </p:spTree>
    <p:extLst>
      <p:ext uri="{BB962C8B-B14F-4D97-AF65-F5344CB8AC3E}">
        <p14:creationId xmlns:p14="http://schemas.microsoft.com/office/powerpoint/2010/main" val="4261122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C11692DC-CEE9-EEB1-C0BC-B86E8544D7C3}"/>
              </a:ext>
            </a:extLst>
          </p:cNvPr>
          <p:cNvGrpSpPr/>
          <p:nvPr/>
        </p:nvGrpSpPr>
        <p:grpSpPr>
          <a:xfrm>
            <a:off x="1066800" y="1144143"/>
            <a:ext cx="9220200" cy="4713732"/>
            <a:chOff x="457200" y="932688"/>
            <a:chExt cx="8321040" cy="3941064"/>
          </a:xfrm>
        </p:grpSpPr>
        <p:sp>
          <p:nvSpPr>
            <p:cNvPr id="24" name="Shape 1">
              <a:extLst>
                <a:ext uri="{FF2B5EF4-FFF2-40B4-BE49-F238E27FC236}">
                  <a16:creationId xmlns:a16="http://schemas.microsoft.com/office/drawing/2014/main" id="{581526EF-2B10-8EBB-C9A2-D4BA49AE2EF7}"/>
                </a:ext>
              </a:extLst>
            </p:cNvPr>
            <p:cNvSpPr/>
            <p:nvPr/>
          </p:nvSpPr>
          <p:spPr>
            <a:xfrm>
              <a:off x="457200" y="932688"/>
              <a:ext cx="411480" cy="50292"/>
            </a:xfrm>
            <a:prstGeom prst="rect">
              <a:avLst/>
            </a:prstGeom>
            <a:solidFill>
              <a:srgbClr val="9DC31A"/>
            </a:solidFill>
            <a:ln w="12700">
              <a:solidFill>
                <a:srgbClr val="9DC31A"/>
              </a:solidFill>
              <a:prstDash val="solid"/>
            </a:ln>
          </p:spPr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99FC3DB7-AACB-6F2A-DAD4-808769491BC9}"/>
                </a:ext>
              </a:extLst>
            </p:cNvPr>
            <p:cNvSpPr/>
            <p:nvPr/>
          </p:nvSpPr>
          <p:spPr>
            <a:xfrm>
              <a:off x="457200" y="1170432"/>
              <a:ext cx="38404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9DC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QUANTITATIVE OUTCOMES</a:t>
              </a:r>
              <a:endParaRPr lang="en-US" sz="1300" dirty="0"/>
            </a:p>
          </p:txBody>
        </p:sp>
        <p:sp>
          <p:nvSpPr>
            <p:cNvPr id="26" name="Shape 3">
              <a:extLst>
                <a:ext uri="{FF2B5EF4-FFF2-40B4-BE49-F238E27FC236}">
                  <a16:creationId xmlns:a16="http://schemas.microsoft.com/office/drawing/2014/main" id="{AAB83AB7-A511-1516-7181-8951E0FB9264}"/>
                </a:ext>
              </a:extLst>
            </p:cNvPr>
            <p:cNvSpPr/>
            <p:nvPr/>
          </p:nvSpPr>
          <p:spPr>
            <a:xfrm>
              <a:off x="457200" y="1572768"/>
              <a:ext cx="3749040" cy="749808"/>
            </a:xfrm>
            <a:prstGeom prst="rect">
              <a:avLst/>
            </a:prstGeom>
            <a:solidFill>
              <a:srgbClr val="0A5577"/>
            </a:solidFill>
            <a:ln w="12700">
              <a:solidFill>
                <a:srgbClr val="9DC31A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7" name="Text 4">
              <a:extLst>
                <a:ext uri="{FF2B5EF4-FFF2-40B4-BE49-F238E27FC236}">
                  <a16:creationId xmlns:a16="http://schemas.microsoft.com/office/drawing/2014/main" id="{8D352690-7D7C-4664-5CE4-F2C904DF080A}"/>
                </a:ext>
              </a:extLst>
            </p:cNvPr>
            <p:cNvSpPr/>
            <p:nvPr/>
          </p:nvSpPr>
          <p:spPr>
            <a:xfrm>
              <a:off x="594360" y="1627632"/>
              <a:ext cx="10058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9DC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15%</a:t>
              </a:r>
              <a:endParaRPr lang="en-US" sz="2400" dirty="0"/>
            </a:p>
          </p:txBody>
        </p:sp>
        <p:sp>
          <p:nvSpPr>
            <p:cNvPr id="28" name="Text 5">
              <a:extLst>
                <a:ext uri="{FF2B5EF4-FFF2-40B4-BE49-F238E27FC236}">
                  <a16:creationId xmlns:a16="http://schemas.microsoft.com/office/drawing/2014/main" id="{E82EAC1D-12FE-ACE5-F900-C080660B047D}"/>
                </a:ext>
              </a:extLst>
            </p:cNvPr>
            <p:cNvSpPr/>
            <p:nvPr/>
          </p:nvSpPr>
          <p:spPr>
            <a:xfrm>
              <a:off x="1691640" y="1664208"/>
              <a:ext cx="237744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A8D8E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Reduction in delinquency escalations within 6 months of pilot</a:t>
              </a:r>
              <a:endParaRPr lang="en-US" sz="1100" dirty="0"/>
            </a:p>
          </p:txBody>
        </p:sp>
        <p:sp>
          <p:nvSpPr>
            <p:cNvPr id="29" name="Shape 6">
              <a:extLst>
                <a:ext uri="{FF2B5EF4-FFF2-40B4-BE49-F238E27FC236}">
                  <a16:creationId xmlns:a16="http://schemas.microsoft.com/office/drawing/2014/main" id="{73DBABCD-B2F4-C71C-A69F-C9BC43DA0DB7}"/>
                </a:ext>
              </a:extLst>
            </p:cNvPr>
            <p:cNvSpPr/>
            <p:nvPr/>
          </p:nvSpPr>
          <p:spPr>
            <a:xfrm>
              <a:off x="457200" y="2423160"/>
              <a:ext cx="3749040" cy="749808"/>
            </a:xfrm>
            <a:prstGeom prst="rect">
              <a:avLst/>
            </a:prstGeom>
            <a:solidFill>
              <a:srgbClr val="0A5577"/>
            </a:solidFill>
            <a:ln w="12700">
              <a:solidFill>
                <a:srgbClr val="9DC31A"/>
              </a:solidFill>
              <a:prstDash val="solid"/>
            </a:ln>
          </p:spPr>
        </p:sp>
        <p:sp>
          <p:nvSpPr>
            <p:cNvPr id="30" name="Text 7">
              <a:extLst>
                <a:ext uri="{FF2B5EF4-FFF2-40B4-BE49-F238E27FC236}">
                  <a16:creationId xmlns:a16="http://schemas.microsoft.com/office/drawing/2014/main" id="{C4A8A8FC-62CD-F5F3-6704-3A13FB6CCAA8}"/>
                </a:ext>
              </a:extLst>
            </p:cNvPr>
            <p:cNvSpPr/>
            <p:nvPr/>
          </p:nvSpPr>
          <p:spPr>
            <a:xfrm>
              <a:off x="594360" y="2478024"/>
              <a:ext cx="10058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9DC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$24K</a:t>
              </a:r>
              <a:endParaRPr lang="en-US" sz="2400" dirty="0"/>
            </a:p>
          </p:txBody>
        </p:sp>
        <p:sp>
          <p:nvSpPr>
            <p:cNvPr id="31" name="Text 8">
              <a:extLst>
                <a:ext uri="{FF2B5EF4-FFF2-40B4-BE49-F238E27FC236}">
                  <a16:creationId xmlns:a16="http://schemas.microsoft.com/office/drawing/2014/main" id="{F36CB516-D481-51A2-1BEC-1371035A087A}"/>
                </a:ext>
              </a:extLst>
            </p:cNvPr>
            <p:cNvSpPr/>
            <p:nvPr/>
          </p:nvSpPr>
          <p:spPr>
            <a:xfrm>
              <a:off x="1691640" y="2514600"/>
              <a:ext cx="237744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A8D8E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Average loan burden reduced per recovered safe customer</a:t>
              </a:r>
              <a:endParaRPr lang="en-US" sz="1100" dirty="0"/>
            </a:p>
          </p:txBody>
        </p:sp>
        <p:sp>
          <p:nvSpPr>
            <p:cNvPr id="32" name="Shape 9">
              <a:extLst>
                <a:ext uri="{FF2B5EF4-FFF2-40B4-BE49-F238E27FC236}">
                  <a16:creationId xmlns:a16="http://schemas.microsoft.com/office/drawing/2014/main" id="{5AD6BB11-A2CE-48B6-93C6-7E5292FFE6E5}"/>
                </a:ext>
              </a:extLst>
            </p:cNvPr>
            <p:cNvSpPr/>
            <p:nvPr/>
          </p:nvSpPr>
          <p:spPr>
            <a:xfrm>
              <a:off x="457200" y="3273552"/>
              <a:ext cx="3749040" cy="749808"/>
            </a:xfrm>
            <a:prstGeom prst="rect">
              <a:avLst/>
            </a:prstGeom>
            <a:solidFill>
              <a:srgbClr val="0A5577"/>
            </a:solidFill>
            <a:ln w="12700">
              <a:solidFill>
                <a:srgbClr val="9DC31A"/>
              </a:solidFill>
              <a:prstDash val="solid"/>
            </a:ln>
          </p:spPr>
        </p:sp>
        <p:sp>
          <p:nvSpPr>
            <p:cNvPr id="33" name="Text 10">
              <a:extLst>
                <a:ext uri="{FF2B5EF4-FFF2-40B4-BE49-F238E27FC236}">
                  <a16:creationId xmlns:a16="http://schemas.microsoft.com/office/drawing/2014/main" id="{72BDAA7D-49A0-2827-2C63-8B5A7F065740}"/>
                </a:ext>
              </a:extLst>
            </p:cNvPr>
            <p:cNvSpPr/>
            <p:nvPr/>
          </p:nvSpPr>
          <p:spPr>
            <a:xfrm>
              <a:off x="594360" y="3328416"/>
              <a:ext cx="10058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9DC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↑ 20%</a:t>
              </a:r>
              <a:endParaRPr lang="en-US" sz="2400" dirty="0"/>
            </a:p>
          </p:txBody>
        </p:sp>
        <p:sp>
          <p:nvSpPr>
            <p:cNvPr id="34" name="Text 11">
              <a:extLst>
                <a:ext uri="{FF2B5EF4-FFF2-40B4-BE49-F238E27FC236}">
                  <a16:creationId xmlns:a16="http://schemas.microsoft.com/office/drawing/2014/main" id="{81313E0B-DCD2-0476-0C62-4A6300FD20BA}"/>
                </a:ext>
              </a:extLst>
            </p:cNvPr>
            <p:cNvSpPr/>
            <p:nvPr/>
          </p:nvSpPr>
          <p:spPr>
            <a:xfrm>
              <a:off x="1691640" y="3364992"/>
              <a:ext cx="237744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A8D8E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Expected improvement in Collections team prioritisation efficiency</a:t>
              </a:r>
              <a:endParaRPr lang="en-US" sz="1100" dirty="0"/>
            </a:p>
          </p:txBody>
        </p:sp>
        <p:sp>
          <p:nvSpPr>
            <p:cNvPr id="35" name="Shape 12">
              <a:extLst>
                <a:ext uri="{FF2B5EF4-FFF2-40B4-BE49-F238E27FC236}">
                  <a16:creationId xmlns:a16="http://schemas.microsoft.com/office/drawing/2014/main" id="{EEC04E59-8705-29C2-A354-9DD6940AA527}"/>
                </a:ext>
              </a:extLst>
            </p:cNvPr>
            <p:cNvSpPr/>
            <p:nvPr/>
          </p:nvSpPr>
          <p:spPr>
            <a:xfrm>
              <a:off x="457200" y="4123944"/>
              <a:ext cx="3749040" cy="749808"/>
            </a:xfrm>
            <a:prstGeom prst="rect">
              <a:avLst/>
            </a:prstGeom>
            <a:solidFill>
              <a:srgbClr val="0A5577"/>
            </a:solidFill>
            <a:ln w="12700">
              <a:solidFill>
                <a:srgbClr val="9DC31A"/>
              </a:solidFill>
              <a:prstDash val="solid"/>
            </a:ln>
          </p:spPr>
        </p:sp>
        <p:sp>
          <p:nvSpPr>
            <p:cNvPr id="36" name="Text 13">
              <a:extLst>
                <a:ext uri="{FF2B5EF4-FFF2-40B4-BE49-F238E27FC236}">
                  <a16:creationId xmlns:a16="http://schemas.microsoft.com/office/drawing/2014/main" id="{C72568D6-1C5D-FD2B-B84B-0A7DA170A420}"/>
                </a:ext>
              </a:extLst>
            </p:cNvPr>
            <p:cNvSpPr/>
            <p:nvPr/>
          </p:nvSpPr>
          <p:spPr>
            <a:xfrm>
              <a:off x="594360" y="4178808"/>
              <a:ext cx="10058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9DC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↓ Cost</a:t>
              </a:r>
              <a:endParaRPr lang="en-US" sz="2400" dirty="0"/>
            </a:p>
          </p:txBody>
        </p:sp>
        <p:sp>
          <p:nvSpPr>
            <p:cNvPr id="37" name="Text 14">
              <a:extLst>
                <a:ext uri="{FF2B5EF4-FFF2-40B4-BE49-F238E27FC236}">
                  <a16:creationId xmlns:a16="http://schemas.microsoft.com/office/drawing/2014/main" id="{39413865-F07B-EF97-7D21-9502AA885D8C}"/>
                </a:ext>
              </a:extLst>
            </p:cNvPr>
            <p:cNvSpPr/>
            <p:nvPr/>
          </p:nvSpPr>
          <p:spPr>
            <a:xfrm>
              <a:off x="1691640" y="4215384"/>
              <a:ext cx="237744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A8D8E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Proactive intervention costs significantly less than post-default collections</a:t>
              </a:r>
              <a:endParaRPr lang="en-US" sz="1100" dirty="0"/>
            </a:p>
          </p:txBody>
        </p:sp>
        <p:sp>
          <p:nvSpPr>
            <p:cNvPr id="38" name="Text 15">
              <a:extLst>
                <a:ext uri="{FF2B5EF4-FFF2-40B4-BE49-F238E27FC236}">
                  <a16:creationId xmlns:a16="http://schemas.microsoft.com/office/drawing/2014/main" id="{A1FA48EF-475F-5E04-36DD-3EE705975AEB}"/>
                </a:ext>
              </a:extLst>
            </p:cNvPr>
            <p:cNvSpPr/>
            <p:nvPr/>
          </p:nvSpPr>
          <p:spPr>
            <a:xfrm>
              <a:off x="4663440" y="1170432"/>
              <a:ext cx="4114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5BD8F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QUALITATIVE OUTCOMES</a:t>
              </a:r>
              <a:endParaRPr lang="en-US" sz="1300" dirty="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4D612AD-23E5-81C3-F179-084431983EF4}"/>
                </a:ext>
              </a:extLst>
            </p:cNvPr>
            <p:cNvGrpSpPr/>
            <p:nvPr/>
          </p:nvGrpSpPr>
          <p:grpSpPr>
            <a:xfrm>
              <a:off x="4663440" y="1572768"/>
              <a:ext cx="4114800" cy="749808"/>
              <a:chOff x="4663440" y="1572768"/>
              <a:chExt cx="4114800" cy="749808"/>
            </a:xfrm>
          </p:grpSpPr>
          <p:sp>
            <p:nvSpPr>
              <p:cNvPr id="49" name="Shape 16">
                <a:extLst>
                  <a:ext uri="{FF2B5EF4-FFF2-40B4-BE49-F238E27FC236}">
                    <a16:creationId xmlns:a16="http://schemas.microsoft.com/office/drawing/2014/main" id="{B08CF3BC-8F6A-D117-C5A9-6F8FFF0C35B6}"/>
                  </a:ext>
                </a:extLst>
              </p:cNvPr>
              <p:cNvSpPr/>
              <p:nvPr/>
            </p:nvSpPr>
            <p:spPr>
              <a:xfrm>
                <a:off x="4663440" y="1572768"/>
                <a:ext cx="4114800" cy="749808"/>
              </a:xfrm>
              <a:prstGeom prst="rect">
                <a:avLst/>
              </a:prstGeom>
              <a:solidFill>
                <a:srgbClr val="0A5577"/>
              </a:solidFill>
              <a:ln w="12700">
                <a:solidFill>
                  <a:srgbClr val="5BD8F5"/>
                </a:solidFill>
                <a:prstDash val="solid"/>
              </a:ln>
            </p:spPr>
          </p:sp>
          <p:sp>
            <p:nvSpPr>
              <p:cNvPr id="50" name="Text 17">
                <a:extLst>
                  <a:ext uri="{FF2B5EF4-FFF2-40B4-BE49-F238E27FC236}">
                    <a16:creationId xmlns:a16="http://schemas.microsoft.com/office/drawing/2014/main" id="{173712EC-E96C-67AD-9223-E2A87DC18715}"/>
                  </a:ext>
                </a:extLst>
              </p:cNvPr>
              <p:cNvSpPr/>
              <p:nvPr/>
            </p:nvSpPr>
            <p:spPr>
              <a:xfrm>
                <a:off x="4800600" y="1618488"/>
                <a:ext cx="374904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5BD8F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Customer Trust</a:t>
                </a:r>
                <a:endParaRPr lang="en-US" sz="1200" dirty="0"/>
              </a:p>
            </p:txBody>
          </p:sp>
          <p:sp>
            <p:nvSpPr>
              <p:cNvPr id="51" name="Text 18">
                <a:extLst>
                  <a:ext uri="{FF2B5EF4-FFF2-40B4-BE49-F238E27FC236}">
                    <a16:creationId xmlns:a16="http://schemas.microsoft.com/office/drawing/2014/main" id="{E82EED99-6DD3-0E76-97CD-76E7491058D8}"/>
                  </a:ext>
                </a:extLst>
              </p:cNvPr>
              <p:cNvSpPr/>
              <p:nvPr/>
            </p:nvSpPr>
            <p:spPr>
              <a:xfrm>
                <a:off x="4800600" y="1901952"/>
                <a:ext cx="3749040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50" dirty="0">
                    <a:solidFill>
                      <a:srgbClr val="A8D8E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Transparent and explainable AI decisions build long-term loyalty and reduce complaints.</a:t>
                </a:r>
                <a:endParaRPr lang="en-US" sz="1050" dirty="0"/>
              </a:p>
            </p:txBody>
          </p:sp>
        </p:grpSp>
        <p:sp>
          <p:nvSpPr>
            <p:cNvPr id="40" name="Shape 19">
              <a:extLst>
                <a:ext uri="{FF2B5EF4-FFF2-40B4-BE49-F238E27FC236}">
                  <a16:creationId xmlns:a16="http://schemas.microsoft.com/office/drawing/2014/main" id="{016C8A8B-7ED8-AE6F-CA40-2F597B38D1EE}"/>
                </a:ext>
              </a:extLst>
            </p:cNvPr>
            <p:cNvSpPr/>
            <p:nvPr/>
          </p:nvSpPr>
          <p:spPr>
            <a:xfrm>
              <a:off x="4663440" y="2423160"/>
              <a:ext cx="4114800" cy="749808"/>
            </a:xfrm>
            <a:prstGeom prst="rect">
              <a:avLst/>
            </a:prstGeom>
            <a:solidFill>
              <a:srgbClr val="0A5577"/>
            </a:solidFill>
            <a:ln w="12700">
              <a:solidFill>
                <a:srgbClr val="5BD8F5"/>
              </a:solidFill>
              <a:prstDash val="solid"/>
            </a:ln>
          </p:spPr>
        </p:sp>
        <p:sp>
          <p:nvSpPr>
            <p:cNvPr id="41" name="Text 20">
              <a:extLst>
                <a:ext uri="{FF2B5EF4-FFF2-40B4-BE49-F238E27FC236}">
                  <a16:creationId xmlns:a16="http://schemas.microsoft.com/office/drawing/2014/main" id="{6388FD30-3352-A193-C35C-5FD2F8461212}"/>
                </a:ext>
              </a:extLst>
            </p:cNvPr>
            <p:cNvSpPr/>
            <p:nvPr/>
          </p:nvSpPr>
          <p:spPr>
            <a:xfrm>
              <a:off x="4800600" y="2468880"/>
              <a:ext cx="3749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5BD8F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Fairness</a:t>
              </a:r>
              <a:endParaRPr lang="en-US" sz="1200" dirty="0"/>
            </a:p>
          </p:txBody>
        </p:sp>
        <p:sp>
          <p:nvSpPr>
            <p:cNvPr id="42" name="Text 21">
              <a:extLst>
                <a:ext uri="{FF2B5EF4-FFF2-40B4-BE49-F238E27FC236}">
                  <a16:creationId xmlns:a16="http://schemas.microsoft.com/office/drawing/2014/main" id="{2B0FD34D-58C6-AC54-B049-066F2D073947}"/>
                </a:ext>
              </a:extLst>
            </p:cNvPr>
            <p:cNvSpPr/>
            <p:nvPr/>
          </p:nvSpPr>
          <p:spPr>
            <a:xfrm>
              <a:off x="4800600" y="2752344"/>
              <a:ext cx="37490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A8D8E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Segment-specific policies prevent discriminatory outcomes for student, retired, and self-employed customers.</a:t>
              </a:r>
              <a:endParaRPr lang="en-US" sz="1050" dirty="0"/>
            </a:p>
          </p:txBody>
        </p:sp>
        <p:sp>
          <p:nvSpPr>
            <p:cNvPr id="43" name="Shape 22">
              <a:extLst>
                <a:ext uri="{FF2B5EF4-FFF2-40B4-BE49-F238E27FC236}">
                  <a16:creationId xmlns:a16="http://schemas.microsoft.com/office/drawing/2014/main" id="{76C71FC4-FA51-2B90-A031-723A810A61A6}"/>
                </a:ext>
              </a:extLst>
            </p:cNvPr>
            <p:cNvSpPr/>
            <p:nvPr/>
          </p:nvSpPr>
          <p:spPr>
            <a:xfrm>
              <a:off x="4663440" y="3273552"/>
              <a:ext cx="4114800" cy="749808"/>
            </a:xfrm>
            <a:prstGeom prst="rect">
              <a:avLst/>
            </a:prstGeom>
            <a:solidFill>
              <a:srgbClr val="0A5577"/>
            </a:solidFill>
            <a:ln w="12700">
              <a:solidFill>
                <a:srgbClr val="5BD8F5"/>
              </a:solidFill>
              <a:prstDash val="solid"/>
            </a:ln>
          </p:spPr>
        </p:sp>
        <p:sp>
          <p:nvSpPr>
            <p:cNvPr id="44" name="Text 23">
              <a:extLst>
                <a:ext uri="{FF2B5EF4-FFF2-40B4-BE49-F238E27FC236}">
                  <a16:creationId xmlns:a16="http://schemas.microsoft.com/office/drawing/2014/main" id="{BA7B78DE-4282-9A77-C2DD-D4A50DBB42D6}"/>
                </a:ext>
              </a:extLst>
            </p:cNvPr>
            <p:cNvSpPr/>
            <p:nvPr/>
          </p:nvSpPr>
          <p:spPr>
            <a:xfrm>
              <a:off x="4800600" y="3319272"/>
              <a:ext cx="3749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5BD8F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Scalability</a:t>
              </a:r>
              <a:endParaRPr lang="en-US" sz="1200" dirty="0"/>
            </a:p>
          </p:txBody>
        </p:sp>
        <p:sp>
          <p:nvSpPr>
            <p:cNvPr id="45" name="Text 24">
              <a:extLst>
                <a:ext uri="{FF2B5EF4-FFF2-40B4-BE49-F238E27FC236}">
                  <a16:creationId xmlns:a16="http://schemas.microsoft.com/office/drawing/2014/main" id="{D2552C38-6B74-123F-9243-C5CEDFE904F9}"/>
                </a:ext>
              </a:extLst>
            </p:cNvPr>
            <p:cNvSpPr/>
            <p:nvPr/>
          </p:nvSpPr>
          <p:spPr>
            <a:xfrm>
              <a:off x="4800600" y="3602736"/>
              <a:ext cx="37490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A8D8E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Automated flagging handles growing customer volumes without proportional staffing increases.</a:t>
              </a:r>
              <a:endParaRPr lang="en-US" sz="1050" dirty="0"/>
            </a:p>
          </p:txBody>
        </p:sp>
        <p:sp>
          <p:nvSpPr>
            <p:cNvPr id="46" name="Shape 25">
              <a:extLst>
                <a:ext uri="{FF2B5EF4-FFF2-40B4-BE49-F238E27FC236}">
                  <a16:creationId xmlns:a16="http://schemas.microsoft.com/office/drawing/2014/main" id="{FA877324-994B-85E1-BCF1-F748040E3C7A}"/>
                </a:ext>
              </a:extLst>
            </p:cNvPr>
            <p:cNvSpPr/>
            <p:nvPr/>
          </p:nvSpPr>
          <p:spPr>
            <a:xfrm>
              <a:off x="4663440" y="4123944"/>
              <a:ext cx="4114800" cy="749808"/>
            </a:xfrm>
            <a:prstGeom prst="rect">
              <a:avLst/>
            </a:prstGeom>
            <a:solidFill>
              <a:srgbClr val="0A5577"/>
            </a:solidFill>
            <a:ln w="12700">
              <a:solidFill>
                <a:srgbClr val="5BD8F5"/>
              </a:solidFill>
              <a:prstDash val="solid"/>
            </a:ln>
          </p:spPr>
        </p:sp>
        <p:sp>
          <p:nvSpPr>
            <p:cNvPr id="47" name="Text 26">
              <a:extLst>
                <a:ext uri="{FF2B5EF4-FFF2-40B4-BE49-F238E27FC236}">
                  <a16:creationId xmlns:a16="http://schemas.microsoft.com/office/drawing/2014/main" id="{49688976-7962-8FBF-DA13-38CF0B239127}"/>
                </a:ext>
              </a:extLst>
            </p:cNvPr>
            <p:cNvSpPr/>
            <p:nvPr/>
          </p:nvSpPr>
          <p:spPr>
            <a:xfrm>
              <a:off x="4800600" y="4169664"/>
              <a:ext cx="3749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5BD8F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Regulatory Readiness</a:t>
              </a:r>
              <a:endParaRPr lang="en-US" sz="1200" dirty="0"/>
            </a:p>
          </p:txBody>
        </p:sp>
        <p:sp>
          <p:nvSpPr>
            <p:cNvPr id="48" name="Text 27">
              <a:extLst>
                <a:ext uri="{FF2B5EF4-FFF2-40B4-BE49-F238E27FC236}">
                  <a16:creationId xmlns:a16="http://schemas.microsoft.com/office/drawing/2014/main" id="{7B8227CA-135F-E56B-148C-BE1D8F5B9AA3}"/>
                </a:ext>
              </a:extLst>
            </p:cNvPr>
            <p:cNvSpPr/>
            <p:nvPr/>
          </p:nvSpPr>
          <p:spPr>
            <a:xfrm>
              <a:off x="4800600" y="4453128"/>
              <a:ext cx="37490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A8D8E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Human-in-the-loop design and explainability satisfy ECOA, GDPR, and local compliance standards.</a:t>
              </a:r>
              <a:endParaRPr lang="en-US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2097820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76031B-479D-0DF2-CFD6-5F13CCF87852}"/>
              </a:ext>
            </a:extLst>
          </p:cNvPr>
          <p:cNvSpPr txBox="1"/>
          <p:nvPr/>
        </p:nvSpPr>
        <p:spPr>
          <a:xfrm>
            <a:off x="4114800" y="3134606"/>
            <a:ext cx="782726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32089651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420</TotalTime>
  <Words>495</Words>
  <Application>Microsoft Office PowerPoint</Application>
  <PresentationFormat>Widescreen</PresentationFormat>
  <Paragraphs>122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Trebuchet MS</vt:lpstr>
      <vt:lpstr>Berlin</vt:lpstr>
      <vt:lpstr>AI-Powered Collections Strategy</vt:lpstr>
      <vt:lpstr>How the System Works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ashish waghmare</dc:creator>
  <cp:lastModifiedBy>ashish waghmare</cp:lastModifiedBy>
  <cp:revision>3</cp:revision>
  <dcterms:created xsi:type="dcterms:W3CDTF">2026-03-24T03:08:57Z</dcterms:created>
  <dcterms:modified xsi:type="dcterms:W3CDTF">2026-03-31T19:03:55Z</dcterms:modified>
</cp:coreProperties>
</file>